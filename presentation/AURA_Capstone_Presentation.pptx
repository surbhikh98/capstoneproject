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1695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FFFF"/>
                </a:solidFill>
                <a:latin typeface="Cambria"/>
              </a:rPr>
              <a:t>AURA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rgbClr val="CADCFC"/>
                </a:solidFill>
                <a:latin typeface="Calibri"/>
              </a:rPr>
              <a:t>AI Underwriting Risk Assistant — Commercial P&amp;C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00A896"/>
                </a:solidFill>
                <a:latin typeface="Calibri"/>
              </a:rPr>
              <a:t>Turning submission overload into competitive advantage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965960"/>
            <a:ext cx="3611880" cy="41148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6" name="Shape 6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167128"/>
            <a:ext cx="2606040" cy="4572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Challenges &amp; 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2880360"/>
            <a:ext cx="3063240" cy="29260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Submission volumes outpace underwriting capacity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Manual document review and eligibility checks slow every decision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Missed risk factors (“leakage”) erode loss ratio discipline</a:t>
            </a:r>
          </a:p>
        </p:txBody>
      </p:sp>
      <p:sp>
        <p:nvSpPr>
          <p:cNvPr id="9" name="Shape 9"/>
          <p:cNvSpPr/>
          <p:nvPr/>
        </p:nvSpPr>
        <p:spPr>
          <a:xfrm>
            <a:off x="4389120" y="1965960"/>
            <a:ext cx="3611880" cy="41148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Shape 10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2080" y="2167128"/>
            <a:ext cx="2606040" cy="4572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Strategic Imperative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63440" y="2880360"/>
            <a:ext cx="3063240" cy="29260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Underwriting talent shortage limits scalable growth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Brokers expect fast answers or place business elsewhere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E&amp;S market rewards carriers that move fast on hard-to-place risk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0" y="1965960"/>
            <a:ext cx="3611880" cy="41148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Shape 14"/>
          <p:cNvSpPr/>
          <p:nvPr/>
        </p:nvSpPr>
        <p:spPr>
          <a:xfrm>
            <a:off x="8458200" y="21945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52560" y="2167128"/>
            <a:ext cx="2606040" cy="4572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Shift in Operating Model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03920" y="2880360"/>
            <a:ext cx="3063240" cy="29260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Underwriters shift from manual triage to judgment and relationships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Deterministic rules plus AI reasoning replace ad hoc manual checks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Every submission gets consistent, auditable first-pass treatment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2700" b="1" dirty="0">
                <a:solidFill>
                  <a:srgbClr val="1E2761"/>
                </a:solidFill>
                <a:latin typeface="Cambria"/>
              </a:rPr>
              <a:t>Today: A Manual, Inconsistent Process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36454F"/>
                </a:solidFill>
                <a:latin typeface="Calibri"/>
              </a:rPr>
              <a:t>Current submission workflow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371600"/>
            <a:ext cx="1920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Broker sends submission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8880" y="1714500"/>
            <a:ext cx="292608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6" name="Shape 6"/>
          <p:cNvSpPr/>
          <p:nvPr/>
        </p:nvSpPr>
        <p:spPr>
          <a:xfrm>
            <a:off x="2761488" y="1371600"/>
            <a:ext cx="1920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Underwriter reads documents manually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1728" y="1714500"/>
            <a:ext cx="292608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8" name="Shape 8"/>
          <p:cNvSpPr/>
          <p:nvPr/>
        </p:nvSpPr>
        <p:spPr>
          <a:xfrm>
            <a:off x="4974336" y="1371600"/>
            <a:ext cx="1920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Appetite checked by memory / spreadsheets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94576" y="1714500"/>
            <a:ext cx="292608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0" name="Shape 10"/>
          <p:cNvSpPr/>
          <p:nvPr/>
        </p:nvSpPr>
        <p:spPr>
          <a:xfrm>
            <a:off x="7187184" y="1371600"/>
            <a:ext cx="1920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Risk judged ad hoc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07424" y="1714500"/>
            <a:ext cx="292608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2" name="Shape 12"/>
          <p:cNvSpPr/>
          <p:nvPr/>
        </p:nvSpPr>
        <p:spPr>
          <a:xfrm>
            <a:off x="9400032" y="1371600"/>
            <a:ext cx="1920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Reply drafted manually (days later)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880360"/>
            <a:ext cx="21396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Shape 14"/>
          <p:cNvSpPr/>
          <p:nvPr/>
        </p:nvSpPr>
        <p:spPr>
          <a:xfrm>
            <a:off x="713232" y="3081528"/>
            <a:ext cx="1810512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713232" y="3246120"/>
            <a:ext cx="1810512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Pain Points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232" y="4069080"/>
            <a:ext cx="1810512" cy="1828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50" dirty="0">
                <a:solidFill>
                  <a:srgbClr val="36454F"/>
                </a:solidFill>
                <a:latin typeface="Calibri"/>
              </a:rPr>
              <a:t>Inconsistent document formats slow every review</a:t>
            </a:r>
          </a:p>
        </p:txBody>
      </p:sp>
      <p:sp>
        <p:nvSpPr>
          <p:cNvPr id="17" name="Shape 17"/>
          <p:cNvSpPr/>
          <p:nvPr/>
        </p:nvSpPr>
        <p:spPr>
          <a:xfrm>
            <a:off x="2816352" y="2880360"/>
            <a:ext cx="21396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Shape 18"/>
          <p:cNvSpPr/>
          <p:nvPr/>
        </p:nvSpPr>
        <p:spPr>
          <a:xfrm>
            <a:off x="2980944" y="3081528"/>
            <a:ext cx="1810512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2980944" y="3246120"/>
            <a:ext cx="1810512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Manual Activities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80944" y="4069080"/>
            <a:ext cx="1810512" cy="1828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50" dirty="0">
                <a:solidFill>
                  <a:srgbClr val="36454F"/>
                </a:solidFill>
                <a:latin typeface="Calibri"/>
              </a:rPr>
              <a:t>Appetite rules checked by hand for every submission</a:t>
            </a:r>
          </a:p>
        </p:txBody>
      </p:sp>
      <p:sp>
        <p:nvSpPr>
          <p:cNvPr id="21" name="Shape 21"/>
          <p:cNvSpPr/>
          <p:nvPr/>
        </p:nvSpPr>
        <p:spPr>
          <a:xfrm>
            <a:off x="5084064" y="2880360"/>
            <a:ext cx="21396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2" name="Shape 22"/>
          <p:cNvSpPr/>
          <p:nvPr/>
        </p:nvSpPr>
        <p:spPr>
          <a:xfrm>
            <a:off x="5248656" y="3081528"/>
            <a:ext cx="1810512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5248656" y="3246120"/>
            <a:ext cx="1810512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Productivity Issues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48656" y="4069080"/>
            <a:ext cx="1810512" cy="1828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50" dirty="0">
                <a:solidFill>
                  <a:srgbClr val="36454F"/>
                </a:solidFill>
                <a:latin typeface="Calibri"/>
              </a:rPr>
              <a:t>Underwriters process far fewer submissions/day than demand</a:t>
            </a:r>
          </a:p>
        </p:txBody>
      </p:sp>
      <p:sp>
        <p:nvSpPr>
          <p:cNvPr id="25" name="Shape 25"/>
          <p:cNvSpPr/>
          <p:nvPr/>
        </p:nvSpPr>
        <p:spPr>
          <a:xfrm>
            <a:off x="7351776" y="2880360"/>
            <a:ext cx="21396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6" name="Shape 26"/>
          <p:cNvSpPr/>
          <p:nvPr/>
        </p:nvSpPr>
        <p:spPr>
          <a:xfrm>
            <a:off x="7516368" y="3081528"/>
            <a:ext cx="1810512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7516368" y="3246120"/>
            <a:ext cx="1810512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Technology Gaps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16368" y="4069080"/>
            <a:ext cx="1810512" cy="1828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50" dirty="0">
                <a:solidFill>
                  <a:srgbClr val="36454F"/>
                </a:solidFill>
                <a:latin typeface="Calibri"/>
              </a:rPr>
              <a:t>No structured extraction or automated eligibility gate</a:t>
            </a:r>
          </a:p>
        </p:txBody>
      </p:sp>
      <p:sp>
        <p:nvSpPr>
          <p:cNvPr id="29" name="Shape 29"/>
          <p:cNvSpPr/>
          <p:nvPr/>
        </p:nvSpPr>
        <p:spPr>
          <a:xfrm>
            <a:off x="9619488" y="2880360"/>
            <a:ext cx="21396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0" name="Shape 30"/>
          <p:cNvSpPr/>
          <p:nvPr/>
        </p:nvSpPr>
        <p:spPr>
          <a:xfrm>
            <a:off x="9784080" y="3081528"/>
            <a:ext cx="1810512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1" name="TextBox 31"/>
          <p:cNvSpPr txBox="1"/>
          <p:nvPr/>
        </p:nvSpPr>
        <p:spPr>
          <a:xfrm>
            <a:off x="9784080" y="3246120"/>
            <a:ext cx="1810512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Business Limitations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84080" y="4069080"/>
            <a:ext cx="1810512" cy="1828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50" dirty="0">
                <a:solidFill>
                  <a:srgbClr val="36454F"/>
                </a:solidFill>
                <a:latin typeface="Calibri"/>
              </a:rPr>
              <a:t>Slow responses lose time-sensitive E&amp;S business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2500" b="1" dirty="0">
                <a:solidFill>
                  <a:srgbClr val="FFFFFF"/>
                </a:solidFill>
                <a:latin typeface="Cambria"/>
              </a:rPr>
              <a:t>Future State: Faster, Consistent, Scalable Underwriting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1143000"/>
            <a:ext cx="51206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A896"/>
                </a:solidFill>
                <a:latin typeface="Calibri"/>
              </a:rPr>
              <a:t>What AURA Enables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/>
              </a:rPr>
              <a:t>Improved efficiency across submission triage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/>
              </a:rPr>
              <a:t>Faster decision-making from consistent, structured data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/>
              </a:rPr>
              <a:t>Better broker experience through rapid response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/>
              </a:rPr>
              <a:t>Reduced review effort and cost per submission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3383280"/>
            <a:ext cx="51206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A896"/>
                </a:solidFill>
                <a:latin typeface="Calibri"/>
              </a:rPr>
              <a:t>Future State Operating Model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560" y="3840480"/>
            <a:ext cx="46177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</a:rPr>
              <a:t>People  —  Focus on judgment, escalations, and broker relationships</a:t>
            </a:r>
          </a:p>
        </p:txBody>
      </p:sp>
      <p:sp>
        <p:nvSpPr>
          <p:cNvPr id="8" name="Shape 8"/>
          <p:cNvSpPr/>
          <p:nvPr/>
        </p:nvSpPr>
        <p:spPr>
          <a:xfrm>
            <a:off x="548640" y="4498848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560" y="4498848"/>
            <a:ext cx="46177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</a:rPr>
              <a:t>Process  —  Consistent, auditable eligibility rules applied every time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560" y="5157216"/>
            <a:ext cx="46177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</a:rPr>
              <a:t>AI  —  Extraction, risk narrative, and drafting at machine speed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6480" y="1143000"/>
            <a:ext cx="548640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A896"/>
                </a:solidFill>
                <a:latin typeface="Calibri"/>
              </a:rPr>
              <a:t>Strategic Outcomes (illustrative PoC estimates)</a:t>
            </a:r>
          </a:p>
        </p:txBody>
      </p:sp>
      <p:sp>
        <p:nvSpPr>
          <p:cNvPr id="13" name="Shape 13"/>
          <p:cNvSpPr/>
          <p:nvPr/>
        </p:nvSpPr>
        <p:spPr>
          <a:xfrm>
            <a:off x="6126480" y="1645920"/>
            <a:ext cx="5486400" cy="11430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6355080" y="1783080"/>
            <a:ext cx="21945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~85%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3920" y="1783080"/>
            <a:ext cx="28803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50" dirty="0">
                <a:solidFill>
                  <a:srgbClr val="CADCFC"/>
                </a:solidFill>
                <a:latin typeface="Calibri"/>
              </a:rPr>
              <a:t>Faster initial submission triage</a:t>
            </a:r>
          </a:p>
        </p:txBody>
      </p:sp>
      <p:sp>
        <p:nvSpPr>
          <p:cNvPr id="16" name="Shape 16"/>
          <p:cNvSpPr/>
          <p:nvPr/>
        </p:nvSpPr>
        <p:spPr>
          <a:xfrm>
            <a:off x="6126480" y="3017520"/>
            <a:ext cx="5486400" cy="11430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6355080" y="3154680"/>
            <a:ext cx="21945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3x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3920" y="3154680"/>
            <a:ext cx="28803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50" dirty="0">
                <a:solidFill>
                  <a:srgbClr val="CADCFC"/>
                </a:solidFill>
                <a:latin typeface="Calibri"/>
              </a:rPr>
              <a:t>More submissions reviewed per underwriter/day</a:t>
            </a:r>
          </a:p>
        </p:txBody>
      </p:sp>
      <p:sp>
        <p:nvSpPr>
          <p:cNvPr id="19" name="Shape 19"/>
          <p:cNvSpPr/>
          <p:nvPr/>
        </p:nvSpPr>
        <p:spPr>
          <a:xfrm>
            <a:off x="6126480" y="4389120"/>
            <a:ext cx="5486400" cy="1143000"/>
          </a:xfrm>
          <a:prstGeom prst="roundRect">
            <a:avLst/>
          </a:prstGeom>
          <a:solidFill>
            <a:srgbClr val="24316E"/>
          </a:solidFill>
          <a:ln w="9525">
            <a:solidFill>
              <a:srgbClr val="00A896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6355080" y="4526280"/>
            <a:ext cx="21945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Fewer Gaps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03920" y="4526280"/>
            <a:ext cx="2880360" cy="86868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250" dirty="0">
                <a:solidFill>
                  <a:srgbClr val="CADCFC"/>
                </a:solidFill>
                <a:latin typeface="Calibri"/>
              </a:rPr>
              <a:t>Fewer missed eligibility &amp; risk factors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2700" b="1" dirty="0">
                <a:solidFill>
                  <a:srgbClr val="1E2761"/>
                </a:solidFill>
                <a:latin typeface="Cambria"/>
              </a:rPr>
              <a:t>AURA: Solution Architecture</a:t>
            </a:r>
          </a:p>
        </p:txBody>
      </p:sp>
      <p:sp>
        <p:nvSpPr>
          <p:cNvPr id="3" name="Shape 3"/>
          <p:cNvSpPr/>
          <p:nvPr/>
        </p:nvSpPr>
        <p:spPr>
          <a:xfrm>
            <a:off x="548640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Broker Submission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4657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5" name="Shape 5"/>
          <p:cNvSpPr/>
          <p:nvPr/>
        </p:nvSpPr>
        <p:spPr>
          <a:xfrm>
            <a:off x="2146097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Claude: Extraction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2114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7" name="Shape 7"/>
          <p:cNvSpPr/>
          <p:nvPr/>
        </p:nvSpPr>
        <p:spPr>
          <a:xfrm>
            <a:off x="3743554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Eligibility Rules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49570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9" name="Shape 9"/>
          <p:cNvSpPr/>
          <p:nvPr/>
        </p:nvSpPr>
        <p:spPr>
          <a:xfrm>
            <a:off x="5341010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Claude: Risk Triage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7027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1" name="Shape 11"/>
          <p:cNvSpPr/>
          <p:nvPr/>
        </p:nvSpPr>
        <p:spPr>
          <a:xfrm>
            <a:off x="6938467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Rationale QA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4484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3" name="Shape 13"/>
          <p:cNvSpPr/>
          <p:nvPr/>
        </p:nvSpPr>
        <p:spPr>
          <a:xfrm>
            <a:off x="8535924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Underwriter Review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41941" y="1668780"/>
            <a:ext cx="9144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5" name="Shape 15"/>
          <p:cNvSpPr/>
          <p:nvPr/>
        </p:nvSpPr>
        <p:spPr>
          <a:xfrm>
            <a:off x="10133381" y="1371600"/>
            <a:ext cx="1506017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Claude: Draft Reply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2468880"/>
            <a:ext cx="10515600" cy="4572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36454F"/>
                </a:solidFill>
                <a:latin typeface="Calibri"/>
              </a:rPr>
              <a:t>Two deterministic checkpoints, not just one: a named rule engine decides eligibility, and a second pass verifies Claude's rationale is consistent and grounded before it reaches the underwriter.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E2761"/>
                </a:solidFill>
                <a:latin typeface="Calibri"/>
              </a:rPr>
              <a:t>Key Capabilities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3456432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932688" y="3419856"/>
            <a:ext cx="4937760" cy="53035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Structured Data Extraction</a:t>
            </a:r>
          </a:p>
          <a:p>
            <a:pPr>
              <a:buNone/>
            </a:pPr>
            <a:r>
              <a:rPr lang="en-US" sz="1000" dirty="0">
                <a:solidFill>
                  <a:srgbClr val="36454F"/>
                </a:solidFill>
                <a:latin typeface="Calibri"/>
              </a:rPr>
              <a:t>Turns messy broker text into clean underwriting fields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402336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932688" y="3986784"/>
            <a:ext cx="4937760" cy="53035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Named Rule Engine (Eligibility)</a:t>
            </a:r>
          </a:p>
          <a:p>
            <a:pPr>
              <a:buNone/>
            </a:pPr>
            <a:r>
              <a:rPr lang="en-US" sz="1000" dirty="0">
                <a:solidFill>
                  <a:srgbClr val="36454F"/>
                </a:solidFill>
                <a:latin typeface="Calibri"/>
              </a:rPr>
              <a:t>8 auditable rules decide Refer / Ineligible — not the LLM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4590288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932688" y="4553712"/>
            <a:ext cx="4937760" cy="53035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AI Risk Narrative &amp; Scoring</a:t>
            </a:r>
          </a:p>
          <a:p>
            <a:pPr>
              <a:buNone/>
            </a:pPr>
            <a:r>
              <a:rPr lang="en-US" sz="1000" dirty="0">
                <a:solidFill>
                  <a:srgbClr val="36454F"/>
                </a:solidFill>
                <a:latin typeface="Calibri"/>
              </a:rPr>
              <a:t>Low / Medium / High triage with clear rationale</a:t>
            </a:r>
          </a:p>
        </p:txBody>
      </p:sp>
      <p:sp>
        <p:nvSpPr>
          <p:cNvPr id="24" name="Shape 24"/>
          <p:cNvSpPr/>
          <p:nvPr/>
        </p:nvSpPr>
        <p:spPr>
          <a:xfrm>
            <a:off x="548640" y="5157216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32688" y="5120640"/>
            <a:ext cx="4937760" cy="53035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Rationale Verification</a:t>
            </a:r>
          </a:p>
          <a:p>
            <a:pPr>
              <a:buNone/>
            </a:pPr>
            <a:r>
              <a:rPr lang="en-US" sz="1000" dirty="0">
                <a:solidFill>
                  <a:srgbClr val="36454F"/>
                </a:solidFill>
                <a:latin typeface="Calibri"/>
              </a:rPr>
              <a:t>Deterministic checks catch inconsistent or hallucinated AI output</a:t>
            </a:r>
          </a:p>
        </p:txBody>
      </p:sp>
      <p:sp>
        <p:nvSpPr>
          <p:cNvPr id="26" name="Shape 26"/>
          <p:cNvSpPr/>
          <p:nvPr/>
        </p:nvSpPr>
        <p:spPr>
          <a:xfrm>
            <a:off x="548640" y="5724144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932688" y="5687568"/>
            <a:ext cx="4937760" cy="53035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Automated Broker Drafting</a:t>
            </a:r>
          </a:p>
          <a:p>
            <a:pPr>
              <a:buNone/>
            </a:pPr>
            <a:r>
              <a:rPr lang="en-US" sz="1000" dirty="0">
                <a:solidFill>
                  <a:srgbClr val="36454F"/>
                </a:solidFill>
                <a:latin typeface="Calibri"/>
              </a:rPr>
              <a:t>Ready-to-send reply tailored to the outcome</a:t>
            </a:r>
          </a:p>
        </p:txBody>
      </p:sp>
      <p:sp>
        <p:nvSpPr>
          <p:cNvPr id="28" name="Shape 28"/>
          <p:cNvSpPr/>
          <p:nvPr/>
        </p:nvSpPr>
        <p:spPr>
          <a:xfrm>
            <a:off x="6217920" y="3017520"/>
            <a:ext cx="5394960" cy="3200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9" name="TextBox 29"/>
          <p:cNvSpPr txBox="1"/>
          <p:nvPr/>
        </p:nvSpPr>
        <p:spPr>
          <a:xfrm>
            <a:off x="6492240" y="3200400"/>
            <a:ext cx="4846320" cy="3200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A896"/>
                </a:solidFill>
                <a:latin typeface="Calibri"/>
              </a:rPr>
              <a:t>AI Tool Used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92240" y="3502152"/>
            <a:ext cx="4846320" cy="4572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  <a:latin typeface="Cambria"/>
              </a:rPr>
              <a:t>Claude (Anthropic)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92240" y="4023360"/>
            <a:ext cx="4846320" cy="16916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Extraction — raw submission text to strict JSON fields</a:t>
            </a:r>
          </a:p>
          <a:p>
            <a:pPr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Risk Triage — weighs loss narrative &amp; industry hazard</a:t>
            </a:r>
          </a:p>
          <a:p>
            <a:pPr>
              <a:buNone/>
            </a:pPr>
            <a:r>
              <a:rPr lang="en-US" sz="1150" dirty="0">
                <a:solidFill>
                  <a:srgbClr val="CADCFC"/>
                </a:solidFill>
                <a:latin typeface="Calibri"/>
              </a:rPr>
              <a:t>Drafting — writes the broker reply for each outcome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92240" y="5806440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000" i="1" dirty="0">
                <a:solidFill>
                  <a:srgbClr val="CADCFC"/>
                </a:solidFill>
                <a:latin typeface="Calibri"/>
              </a:rPr>
              <a:t>Eligibility and rationale checks are deterministic Python, not Claude.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2500" b="1" dirty="0">
                <a:solidFill>
                  <a:srgbClr val="1E2761"/>
                </a:solidFill>
                <a:latin typeface="Cambria"/>
              </a:rPr>
              <a:t>End-to-End Business Flow &amp; Where AI Acts</a:t>
            </a:r>
          </a:p>
        </p:txBody>
      </p:sp>
      <p:sp>
        <p:nvSpPr>
          <p:cNvPr id="3" name="Shape 3"/>
          <p:cNvSpPr/>
          <p:nvPr/>
        </p:nvSpPr>
        <p:spPr>
          <a:xfrm>
            <a:off x="5486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Broker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70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5" name="Shape 5"/>
          <p:cNvSpPr/>
          <p:nvPr/>
        </p:nvSpPr>
        <p:spPr>
          <a:xfrm>
            <a:off x="19202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Submits Submission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86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7" name="Shape 7"/>
          <p:cNvSpPr/>
          <p:nvPr/>
        </p:nvSpPr>
        <p:spPr>
          <a:xfrm>
            <a:off x="32918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Extracts Key Facts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902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9" name="Shape 9"/>
          <p:cNvSpPr/>
          <p:nvPr/>
        </p:nvSpPr>
        <p:spPr>
          <a:xfrm>
            <a:off x="46634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Eligibility Gate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618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1" name="Shape 11"/>
          <p:cNvSpPr/>
          <p:nvPr/>
        </p:nvSpPr>
        <p:spPr>
          <a:xfrm>
            <a:off x="60350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Risk Triage + Rationale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334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3" name="Shape 13"/>
          <p:cNvSpPr/>
          <p:nvPr/>
        </p:nvSpPr>
        <p:spPr>
          <a:xfrm>
            <a:off x="74066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Underwriter Decision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50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5" name="Shape 15"/>
          <p:cNvSpPr/>
          <p:nvPr/>
        </p:nvSpPr>
        <p:spPr>
          <a:xfrm>
            <a:off x="87782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Drafts Reply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6688" y="1668780"/>
            <a:ext cx="73152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6454F"/>
                </a:solidFill>
                <a:latin typeface="Calibri"/>
              </a:rPr>
              <a:t>&gt;</a:t>
            </a:r>
          </a:p>
        </p:txBody>
      </p:sp>
      <p:sp>
        <p:nvSpPr>
          <p:cNvPr id="17" name="Shape 17"/>
          <p:cNvSpPr/>
          <p:nvPr/>
        </p:nvSpPr>
        <p:spPr>
          <a:xfrm>
            <a:off x="10149840" y="1371600"/>
            <a:ext cx="129844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454F"/>
            </a:solidFill>
          </a:ln>
        </p:spPr>
        <p:txBody>
          <a:bodyPr wrap="square" anchor="ctr" lIns="45720" tIns="22860" rIns="45720" bIns="22860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Broker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2606040"/>
            <a:ext cx="256032" cy="25603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914400" y="2560320"/>
            <a:ext cx="31089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150" dirty="0">
                <a:solidFill>
                  <a:srgbClr val="36454F"/>
                </a:solidFill>
                <a:latin typeface="Calibri"/>
              </a:rPr>
              <a:t>Human decision</a:t>
            </a:r>
          </a:p>
        </p:txBody>
      </p:sp>
      <p:sp>
        <p:nvSpPr>
          <p:cNvPr id="20" name="Shape 20"/>
          <p:cNvSpPr/>
          <p:nvPr/>
        </p:nvSpPr>
        <p:spPr>
          <a:xfrm>
            <a:off x="4114800" y="2606040"/>
            <a:ext cx="256032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4480560" y="2560320"/>
            <a:ext cx="31089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150" dirty="0">
                <a:solidFill>
                  <a:srgbClr val="36454F"/>
                </a:solidFill>
                <a:latin typeface="Calibri"/>
              </a:rPr>
              <a:t>AI intervention (Claude)</a:t>
            </a:r>
          </a:p>
        </p:txBody>
      </p:sp>
      <p:sp>
        <p:nvSpPr>
          <p:cNvPr id="22" name="Shape 22"/>
          <p:cNvSpPr/>
          <p:nvPr/>
        </p:nvSpPr>
        <p:spPr>
          <a:xfrm>
            <a:off x="7680960" y="2606040"/>
            <a:ext cx="256032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8046720" y="2560320"/>
            <a:ext cx="31089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>
              <a:buNone/>
            </a:pPr>
            <a:r>
              <a:rPr lang="en-US" sz="1150" dirty="0">
                <a:solidFill>
                  <a:srgbClr val="36454F"/>
                </a:solidFill>
                <a:latin typeface="Calibri"/>
              </a:rPr>
              <a:t>Automated rule check</a:t>
            </a:r>
          </a:p>
        </p:txBody>
      </p:sp>
      <p:sp>
        <p:nvSpPr>
          <p:cNvPr id="24" name="Shape 24"/>
          <p:cNvSpPr/>
          <p:nvPr/>
        </p:nvSpPr>
        <p:spPr>
          <a:xfrm>
            <a:off x="548640" y="3154680"/>
            <a:ext cx="5440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822960" y="3355848"/>
            <a:ext cx="4892040" cy="4114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E2761"/>
                </a:solidFill>
                <a:latin typeface="Calibri"/>
              </a:rPr>
              <a:t>Decision-Making Support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2960" y="3886200"/>
            <a:ext cx="4892040" cy="21945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Structured facts replace re-reading raw documents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Risk rationale gives underwriters a clear starting point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Data-gap flags catch what a rushed read might miss</a:t>
            </a:r>
          </a:p>
        </p:txBody>
      </p:sp>
      <p:sp>
        <p:nvSpPr>
          <p:cNvPr id="27" name="Shape 27"/>
          <p:cNvSpPr/>
          <p:nvPr/>
        </p:nvSpPr>
        <p:spPr>
          <a:xfrm>
            <a:off x="6263640" y="3154680"/>
            <a:ext cx="5440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8" name="TextBox 28"/>
          <p:cNvSpPr txBox="1"/>
          <p:nvPr/>
        </p:nvSpPr>
        <p:spPr>
          <a:xfrm>
            <a:off x="6537960" y="3355848"/>
            <a:ext cx="4892040" cy="4114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E2761"/>
                </a:solidFill>
                <a:latin typeface="Calibri"/>
              </a:rPr>
              <a:t>Automation Opportunities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37960" y="3886200"/>
            <a:ext cx="4892040" cy="21945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Instant eligibility gate on every incoming submission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Consistent first-pass triage, 24/7, no backlog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/>
              </a:rPr>
              <a:t>Broker reply drafted immediately after underwriter sign-off</a:t>
            </a:r>
          </a:p>
        </p:txBody>
      </p:sp>
    </p:spTree>
  </p:cSld>
</p:sld>
</file>

<file path=ppt/theme/theme1.xml><?xml version="1.0" encoding="utf-8"?>
<a:theme xmlns:a="http://schemas.openxmlformats.org/drawingml/2006/main" name="AURA Theme">
  <a:themeElements>
    <a:clrScheme name="AURA">
      <a:dk1>
        <a:sysClr val="windowText" lastClr="000000"/>
      </a:dk1>
      <a:lt1>
        <a:sysClr val="window" lastClr="FFFFFF"/>
      </a:lt1>
      <a:dk2>
        <a:srgbClr val="1E2761"/>
      </a:dk2>
      <a:lt2>
        <a:srgbClr val="CADCFC"/>
      </a:lt2>
      <a:accent1>
        <a:srgbClr val="1E2761"/>
      </a:accent1>
      <a:accent2>
        <a:srgbClr val="00A896"/>
      </a:accent2>
      <a:accent3>
        <a:srgbClr val="E8A33D"/>
      </a:accent3>
      <a:accent4>
        <a:srgbClr val="C0392B"/>
      </a:accent4>
      <a:accent5>
        <a:srgbClr val="36454F"/>
      </a:accent5>
      <a:accent6>
        <a:srgbClr val="2E8B57"/>
      </a:accent6>
      <a:hlink>
        <a:srgbClr val="00A896"/>
      </a:hlink>
      <a:folHlink>
        <a:srgbClr val="1E2761"/>
      </a:folHlink>
    </a:clrScheme>
    <a:fontScheme name="AURA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AU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AURA Capstone Presentation</dc:title>
  <dc:creator>AURA Capstone Project</dc:creator>
</cp:coreProperties>
</file>